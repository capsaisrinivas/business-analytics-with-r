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C3D1CE-5283-490D-B037-A3A4AC7399BE}">
  <a:tblStyle styleId="{7BC3D1CE-5283-490D-B037-A3A4AC7399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5cf5a6711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5cf5a6711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5cf5a6711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5cf5a671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25cf5a6711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25cf5a6711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25cf5a671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25cf5a671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25cf5a6711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25cf5a671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5cf5a6711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5cf5a6711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5cf5a6711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25cf5a671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25cf5a6711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25cf5a6711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25cf5a6711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25cf5a6711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25cf5a6711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25cf5a6711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25d722c3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25d722c3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096238" y="3196755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-14</a:t>
            </a:r>
            <a:endParaRPr/>
          </a:p>
        </p:txBody>
      </p:sp>
      <p:sp>
        <p:nvSpPr>
          <p:cNvPr id="60" name="Google Shape;60;p13"/>
          <p:cNvSpPr txBox="1"/>
          <p:nvPr>
            <p:ph type="ctrTitle"/>
          </p:nvPr>
        </p:nvSpPr>
        <p:spPr>
          <a:xfrm>
            <a:off x="3096250" y="1153025"/>
            <a:ext cx="2951400" cy="16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of New user Bookings of Airbnb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&amp; Objective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5884500" cy="3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Airbnb, one of the world’s largest platforms for vacation rentals and tourism activities, wants to know </a:t>
            </a:r>
            <a:r>
              <a:rPr lang="en"/>
              <a:t>where</a:t>
            </a:r>
            <a:r>
              <a:rPr lang="en"/>
              <a:t> a new user books their next vacation plan.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</a:t>
            </a:r>
            <a:r>
              <a:rPr lang="en"/>
              <a:t>accurately</a:t>
            </a:r>
            <a:r>
              <a:rPr lang="en"/>
              <a:t> predicting where a new user is </a:t>
            </a:r>
            <a:r>
              <a:rPr lang="en"/>
              <a:t>likely</a:t>
            </a:r>
            <a:r>
              <a:rPr lang="en"/>
              <a:t> going to book their travel destination, Airbnb can customize their travel </a:t>
            </a:r>
            <a:r>
              <a:rPr lang="en"/>
              <a:t>experience</a:t>
            </a:r>
            <a:r>
              <a:rPr lang="en"/>
              <a:t>, and better forecast the demand.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We can use supervised machine learning models such as classification to answer the business needs of Airbnb.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6200" y="1398450"/>
            <a:ext cx="2643000" cy="26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945600" y="1314925"/>
            <a:ext cx="7252800" cy="34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dataset consists of 213k records with 15 independent variables and 1 dependent variable(outcome) which is the destination country.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The independent variables include wide range of user characteristics such as gender, age, date account created, signup method, affiliate channel, affiliate provider, signup app etc.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Selection &amp; Preprocessing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261575" y="1122400"/>
            <a:ext cx="51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observed that the raw data has many missing and unknown values with </a:t>
            </a:r>
            <a:r>
              <a:rPr lang="en"/>
              <a:t>inconsistent</a:t>
            </a:r>
            <a:r>
              <a:rPr lang="en"/>
              <a:t> formats that need to be cleaned.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we saw that the raw data has few redundant variables that may not </a:t>
            </a:r>
            <a:r>
              <a:rPr lang="en"/>
              <a:t>affect</a:t>
            </a:r>
            <a:r>
              <a:rPr lang="en"/>
              <a:t> the user’s choice of travel destination.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Hence we decided to do the data cleaning and feature selection procedure to work on clean and most </a:t>
            </a:r>
            <a:r>
              <a:rPr lang="en"/>
              <a:t>relevant</a:t>
            </a:r>
            <a:r>
              <a:rPr lang="en"/>
              <a:t> data.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5605600" y="1305975"/>
            <a:ext cx="3226716" cy="2524068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6196250" y="2115975"/>
            <a:ext cx="2687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Feature selection first?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	Or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 processing first?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261575" y="1277700"/>
            <a:ext cx="51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decided to do the feature </a:t>
            </a:r>
            <a:r>
              <a:rPr lang="en"/>
              <a:t>selection</a:t>
            </a:r>
            <a:r>
              <a:rPr lang="en"/>
              <a:t> before data cleaning so that we don’t lose too many records while cleaning columns that are not </a:t>
            </a:r>
            <a:r>
              <a:rPr lang="en"/>
              <a:t>relevant</a:t>
            </a:r>
            <a:r>
              <a:rPr lang="en"/>
              <a:t> for our model.</a:t>
            </a:r>
            <a:endParaRPr/>
          </a:p>
          <a:p>
            <a:pPr indent="-325755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way we managed to have  108k records to train and test our model.</a:t>
            </a:r>
            <a:endParaRPr/>
          </a:p>
          <a:p>
            <a:pPr indent="-325755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have selected the features based on correlation with the dependent variable and on judgement</a:t>
            </a:r>
            <a:endParaRPr/>
          </a:p>
          <a:p>
            <a:pPr indent="-325755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have also engineered feature - age to reduce the dimensions and retain the overall data structure.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Selection &amp; Preprocessing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5995800" y="1369050"/>
            <a:ext cx="2836500" cy="3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selected: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Gender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Language preference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Signup app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Signup method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Affiliate provider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Affiliate channel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r>
              <a:rPr lang="en"/>
              <a:t> 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286925"/>
            <a:ext cx="424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saw that we need to predict one of 12 possible classes.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the classes are highly unbalanced as can be seen in the graph.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will be </a:t>
            </a:r>
            <a:r>
              <a:rPr lang="en"/>
              <a:t>challenging</a:t>
            </a:r>
            <a:r>
              <a:rPr lang="en"/>
              <a:t> to train a single model on such an unbalanced data with too many prediction classes.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675" y="1286913"/>
            <a:ext cx="4249149" cy="3331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271500" y="220475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21725" y="1212200"/>
            <a:ext cx="4369800" cy="36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will be impractical to apply </a:t>
            </a:r>
            <a:r>
              <a:rPr lang="en"/>
              <a:t>single</a:t>
            </a:r>
            <a:r>
              <a:rPr lang="en"/>
              <a:t> blanket model on the whole data as it may lead to either over fitting or improper generalisation to new data(low accuracy).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Hence we decided apply different customised models at different levels of decision points to improve the overall accuracy and generalization of model.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5673507" y="1153033"/>
            <a:ext cx="9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Level -1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6960024" y="1101700"/>
            <a:ext cx="1805700" cy="77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5184450" y="1159571"/>
            <a:ext cx="1918500" cy="46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5673507" y="1206452"/>
            <a:ext cx="9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Level -1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7136723" y="1101700"/>
            <a:ext cx="155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Is the user going to make a booking or not?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5578407" y="2399327"/>
            <a:ext cx="9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Level -1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6960025" y="2321274"/>
            <a:ext cx="1975200" cy="90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5089351" y="2405866"/>
            <a:ext cx="1918500" cy="46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5578407" y="2452747"/>
            <a:ext cx="9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Level -2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5673517" y="3723728"/>
            <a:ext cx="9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Level -1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6960025" y="3672401"/>
            <a:ext cx="2022900" cy="11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5184461" y="3730266"/>
            <a:ext cx="1918500" cy="46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 txBox="1"/>
          <p:nvPr/>
        </p:nvSpPr>
        <p:spPr>
          <a:xfrm>
            <a:off x="5673517" y="3777147"/>
            <a:ext cx="9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Level -3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7064428" y="3634896"/>
            <a:ext cx="1862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Which Non-US country is the user going to choose given he books for a Non-US country?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6983875" y="2279350"/>
            <a:ext cx="1975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Is the user choosing US or Non-US destination given he is going to book?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1700" y="1152475"/>
            <a:ext cx="420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level 1 we’ve built 3 models to predict weather an user is going to make a booking or not with below accuracies </a:t>
            </a:r>
            <a:endParaRPr/>
          </a:p>
        </p:txBody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- 1 Prediction - Booking / No Booking?</a:t>
            </a:r>
            <a:endParaRPr/>
          </a:p>
        </p:txBody>
      </p:sp>
      <p:graphicFrame>
        <p:nvGraphicFramePr>
          <p:cNvPr id="123" name="Google Shape;123;p20"/>
          <p:cNvGraphicFramePr/>
          <p:nvPr/>
        </p:nvGraphicFramePr>
        <p:xfrm>
          <a:off x="666400" y="309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{7BC3D1CE-5283-490D-B037-A3A4AC7399BE}</a:tableStyleId>
              </a:tblPr>
              <a:tblGrid>
                <a:gridCol w="2579275"/>
                <a:gridCol w="116557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Accuracy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Naïve Bayes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0.6181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9750" y="1102900"/>
            <a:ext cx="4141851" cy="357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152475"/>
            <a:ext cx="437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level 2 we’ve built 3 models to predict weather an user is going to choose US or non US destination given that they are predicted to be going for a booking.</a:t>
            </a:r>
            <a:endParaRPr/>
          </a:p>
        </p:txBody>
      </p:sp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- 2 Prediction - US/Non US </a:t>
            </a:r>
            <a:r>
              <a:rPr lang="en"/>
              <a:t>destination?</a:t>
            </a:r>
            <a:endParaRPr/>
          </a:p>
        </p:txBody>
      </p:sp>
      <p:graphicFrame>
        <p:nvGraphicFramePr>
          <p:cNvPr id="131" name="Google Shape;131;p21"/>
          <p:cNvGraphicFramePr/>
          <p:nvPr/>
        </p:nvGraphicFramePr>
        <p:xfrm>
          <a:off x="611600" y="318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{7BC3D1CE-5283-490D-B037-A3A4AC7399BE}</a:tableStyleId>
              </a:tblPr>
              <a:tblGrid>
                <a:gridCol w="2579275"/>
                <a:gridCol w="116557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Accuracy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Naïve Bayes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0.7072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600" y="1017450"/>
            <a:ext cx="3571462" cy="382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228675"/>
            <a:ext cx="4811700" cy="3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level 3 our </a:t>
            </a:r>
            <a:r>
              <a:rPr lang="en"/>
              <a:t>decision</a:t>
            </a:r>
            <a:r>
              <a:rPr lang="en"/>
              <a:t> is no longer a binary. </a:t>
            </a:r>
            <a:r>
              <a:rPr lang="en"/>
              <a:t>Instead</a:t>
            </a:r>
            <a:r>
              <a:rPr lang="en"/>
              <a:t> we need to predict multiple classes.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this purpose we used multinomial logistic regression model with accuracy of 0.3825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expect the </a:t>
            </a:r>
            <a:r>
              <a:rPr lang="en"/>
              <a:t>accuracy</a:t>
            </a:r>
            <a:r>
              <a:rPr lang="en"/>
              <a:t> to be low considering the the level of unbalanced classes and limited records.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Model can be trained better if we can have more records.</a:t>
            </a:r>
            <a:endParaRPr/>
          </a:p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- 3 Prediction - </a:t>
            </a:r>
            <a:r>
              <a:rPr lang="en"/>
              <a:t>Which Non-US country?</a:t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550" y="1057550"/>
            <a:ext cx="3571462" cy="382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on new data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862050" y="1335000"/>
            <a:ext cx="741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Since we built independent models at each </a:t>
            </a:r>
            <a:r>
              <a:rPr lang="en"/>
              <a:t>decision</a:t>
            </a:r>
            <a:r>
              <a:rPr lang="en"/>
              <a:t> point, we can predict each </a:t>
            </a:r>
            <a:r>
              <a:rPr lang="en"/>
              <a:t>decision</a:t>
            </a:r>
            <a:r>
              <a:rPr lang="en"/>
              <a:t> point </a:t>
            </a:r>
            <a:r>
              <a:rPr lang="en"/>
              <a:t>separately by using the above models</a:t>
            </a:r>
            <a:r>
              <a:rPr lang="en"/>
              <a:t>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 We can use ensemble techniques such as taking majority vote of predictions of the 3 models in level-1 &amp; 2 to further improve the overall accuracy.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470100" y="2263500"/>
            <a:ext cx="2203800" cy="6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EE5FAE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